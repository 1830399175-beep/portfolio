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3" r:id="rId5"/>
    <p:sldId id="264" r:id="rId6"/>
    <p:sldId id="265" r:id="rId7"/>
    <p:sldId id="266" r:id="rId8"/>
    <p:sldId id="267" r:id="rId9"/>
    <p:sldId id="260" r:id="rId10"/>
    <p:sldId id="268" r:id="rId11"/>
    <p:sldId id="272" r:id="rId12"/>
    <p:sldId id="261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24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32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BD0DCC-40D1-F97E-0DEC-97C7280AF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74B5508-FC97-84FD-980A-BF2DC2F13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25E06B-D3FF-09C7-6FD0-886DE4BB6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083B9-3FA7-4684-8CDA-7FEC98BFC178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DF9DE3-88C6-45D2-1785-916E6B7FA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1B87BD-5C67-6B96-8EA4-108954649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BB2A-7431-4B7D-842E-DEAD0B9150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823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912B4A-3A48-D16B-6AD5-21353E7AB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179E5F-208A-F824-1679-6A430196A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E63C2B-167C-8E2B-D9C7-790D814B6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083B9-3FA7-4684-8CDA-7FEC98BFC178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66DCFC-4C61-0CF4-7F82-AD9322567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B1F0C6-BCE0-635D-2282-F59BA3CD0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BB2A-7431-4B7D-842E-DEAD0B9150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203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760BA1-8444-9D27-35D2-82E46423B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C50458-4DC1-7051-598F-E8642A44B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D2488F-2DE4-47E8-710A-F1616EC79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083B9-3FA7-4684-8CDA-7FEC98BFC178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4670AD-CD98-75F7-7E1E-5284C94D6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83936C-1AD6-77B9-C428-685681C8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BB2A-7431-4B7D-842E-DEAD0B9150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928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24B4BC-52D1-88A0-A39C-277B20FF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4AF411-9DDD-11A4-93CB-80C297AA9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B427D4-5415-CA0B-004A-E8187CA8A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B3D2B8-022A-68AA-5DA0-F0572888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083B9-3FA7-4684-8CDA-7FEC98BFC178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463911-3142-0E62-DDF2-A727B4B03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26E8A4-F11B-6CDB-6987-F5E1EAA08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BB2A-7431-4B7D-842E-DEAD0B9150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405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298BE4-3316-CECC-2196-282C1C7AC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4EA2B1-BF44-0FCC-06F7-D8582937D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A9D492-264B-3054-6832-12D4BBFEB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FFF8E25-5E7A-A660-50A9-E663DABFD4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C2A4582-8064-7678-8C1C-DE701E2B08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A4FC417-ED7C-5F8E-825D-F8022694B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083B9-3FA7-4684-8CDA-7FEC98BFC178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3E036DC-763D-F496-EF4D-C7CDE4F70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72B9C4-C9E4-2569-403A-8E6997FF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BB2A-7431-4B7D-842E-DEAD0B9150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881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4AB8C-5C7E-9D47-E310-FBA838B68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BA72D8E-991D-A6DB-E452-BAA508FD3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083B9-3FA7-4684-8CDA-7FEC98BFC178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7043BD-D81B-3E54-3724-89FFAC85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C1C71C6-EB9F-5498-880D-494320F6E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BB2A-7431-4B7D-842E-DEAD0B9150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620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98AB9C2-090B-3690-72D9-8896F8B99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083B9-3FA7-4684-8CDA-7FEC98BFC178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1380E7F-F99E-2CBA-FFC1-7170285E9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DC120B-210A-925C-4631-68756E156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BB2A-7431-4B7D-842E-DEAD0B9150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059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40828-EA9E-CCD0-B4A7-49141C1B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9D1BBF-953F-7807-82E2-A27434D56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FF240B-1AD2-EE19-77F4-55C95B1FE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836670-5DA9-B54E-8797-15C0FA2FD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083B9-3FA7-4684-8CDA-7FEC98BFC178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91788B-0F50-FD51-4523-BF0596BE5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DE0F58-16A8-8541-A1BF-98A93E7C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BB2A-7431-4B7D-842E-DEAD0B9150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844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1DD038-7199-DB5F-D389-38B2DEB83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CDFE3B4-2231-3CEC-DEFD-85136C5608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3B820A-A7FC-EA81-9D0C-E5AAA3209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777E18-7008-994E-E46E-69BDF4576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083B9-3FA7-4684-8CDA-7FEC98BFC178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C74697-47BA-CA0E-ADE7-291470544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E55624-03AC-3436-AA51-CCBEC08CC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BB2A-7431-4B7D-842E-DEAD0B9150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241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AB3792-B1E8-E7F6-1A29-044A2C4F0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1028FF-D432-56B0-7915-28D3906C1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A04A6F-80E8-1D37-0336-9F7746283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083B9-3FA7-4684-8CDA-7FEC98BFC178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FDD566-7555-DB30-35A2-336F04B57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127C33-827C-7B65-CA95-4270A1B1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BB2A-7431-4B7D-842E-DEAD0B9150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33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B5F5DDF-48C6-EDDF-5B9E-D1215E0389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9D7C1B-CE75-57AE-FDF8-F5D06F644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18E38D-7520-0BFE-5A15-CAD78A782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083B9-3FA7-4684-8CDA-7FEC98BFC178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21EC22-31E3-77DD-285B-984BFAAE5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2EC58F-E3C7-6D08-45B6-926F0943C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BB2A-7431-4B7D-842E-DEAD0B9150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315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A6C1128-934B-41B6-C455-71325E73E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D9A497-0438-36FE-02F3-5F180A644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802AEA-2E71-6EB2-5E9F-786E7C692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083B9-3FA7-4684-8CDA-7FEC98BFC178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CFAE55-F11B-3893-A830-25A485BC1A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00CE3B-2A5D-FACE-64E4-D505F8664F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0BB2A-7431-4B7D-842E-DEAD0B9150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881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>
            <a:off x="0" y="0"/>
            <a:ext cx="5280660" cy="68573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316" h="10799">
                <a:moveTo>
                  <a:pt x="113" y="0"/>
                </a:moveTo>
                <a:lnTo>
                  <a:pt x="4764" y="0"/>
                </a:lnTo>
                <a:lnTo>
                  <a:pt x="4792" y="12"/>
                </a:lnTo>
                <a:cubicBezTo>
                  <a:pt x="6866" y="920"/>
                  <a:pt x="8316" y="2990"/>
                  <a:pt x="8316" y="5400"/>
                </a:cubicBezTo>
                <a:cubicBezTo>
                  <a:pt x="8316" y="7809"/>
                  <a:pt x="6866" y="9879"/>
                  <a:pt x="4792" y="10787"/>
                </a:cubicBezTo>
                <a:lnTo>
                  <a:pt x="4764" y="10799"/>
                </a:lnTo>
                <a:lnTo>
                  <a:pt x="113" y="10799"/>
                </a:lnTo>
                <a:lnTo>
                  <a:pt x="85" y="10787"/>
                </a:lnTo>
                <a:cubicBezTo>
                  <a:pt x="63" y="10777"/>
                  <a:pt x="41" y="10768"/>
                  <a:pt x="20" y="10758"/>
                </a:cubicBezTo>
                <a:lnTo>
                  <a:pt x="0" y="10749"/>
                </a:lnTo>
                <a:lnTo>
                  <a:pt x="0" y="50"/>
                </a:lnTo>
                <a:lnTo>
                  <a:pt x="20" y="41"/>
                </a:lnTo>
                <a:cubicBezTo>
                  <a:pt x="41" y="31"/>
                  <a:pt x="63" y="22"/>
                  <a:pt x="85" y="12"/>
                </a:cubicBezTo>
                <a:lnTo>
                  <a:pt x="113" y="0"/>
                </a:lnTo>
                <a:close/>
              </a:path>
            </a:pathLst>
          </a:custGeom>
          <a:solidFill>
            <a:srgbClr val="46DB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-635" y="635"/>
            <a:ext cx="4790440" cy="68573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544" h="10799">
                <a:moveTo>
                  <a:pt x="0" y="0"/>
                </a:moveTo>
                <a:lnTo>
                  <a:pt x="3994" y="0"/>
                </a:lnTo>
                <a:lnTo>
                  <a:pt x="4020" y="11"/>
                </a:lnTo>
                <a:cubicBezTo>
                  <a:pt x="6094" y="919"/>
                  <a:pt x="7544" y="2989"/>
                  <a:pt x="7544" y="5399"/>
                </a:cubicBezTo>
                <a:cubicBezTo>
                  <a:pt x="7544" y="7808"/>
                  <a:pt x="6094" y="9878"/>
                  <a:pt x="4020" y="10786"/>
                </a:cubicBezTo>
                <a:lnTo>
                  <a:pt x="3989" y="10799"/>
                </a:lnTo>
                <a:lnTo>
                  <a:pt x="0" y="10799"/>
                </a:lnTo>
                <a:lnTo>
                  <a:pt x="0" y="0"/>
                </a:lnTo>
                <a:close/>
              </a:path>
            </a:pathLst>
          </a:custGeom>
          <a:solidFill>
            <a:srgbClr val="26C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390" y="1760855"/>
            <a:ext cx="4744720" cy="4759325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11396980" y="393700"/>
            <a:ext cx="346710" cy="346710"/>
          </a:xfrm>
          <a:prstGeom prst="ellipse">
            <a:avLst/>
          </a:prstGeom>
          <a:solidFill>
            <a:srgbClr val="FB5D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099810" y="1887220"/>
            <a:ext cx="5398770" cy="1920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6000" dirty="0">
                <a:solidFill>
                  <a:srgbClr val="26C0AC"/>
                </a:solidFill>
                <a:latin typeface="黑体" panose="02010609060101010101" pitchFamily="49" charset="-122"/>
                <a:ea typeface="黑体" panose="02010609060101010101" pitchFamily="49" charset="-122"/>
                <a:cs typeface="Aharoni" panose="02010803020104030203" pitchFamily="2" charset="-79"/>
              </a:rPr>
              <a:t>新媒体运营</a:t>
            </a:r>
          </a:p>
          <a:p>
            <a:pPr algn="r"/>
            <a:r>
              <a:rPr lang="en-US" altLang="zh-CN" sz="6000" dirty="0">
                <a:solidFill>
                  <a:srgbClr val="26C0AC"/>
                </a:solidFill>
                <a:latin typeface="黑体" panose="02010609060101010101" pitchFamily="49" charset="-122"/>
                <a:ea typeface="黑体" panose="02010609060101010101" pitchFamily="49" charset="-122"/>
                <a:cs typeface="Aharoni" panose="02010803020104030203" pitchFamily="2" charset="-79"/>
              </a:rPr>
              <a:t>个人作品集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791960" y="3867785"/>
            <a:ext cx="4681220" cy="3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haroni" panose="02010803020104030203" pitchFamily="2" charset="-79"/>
                <a:ea typeface="思源黑体 CN Medium" charset="-122"/>
                <a:cs typeface="Aharoni" panose="02010803020104030203" pitchFamily="2" charset="-79"/>
              </a:rPr>
              <a:t>PROTFOLIO DESIGN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6873240" y="4465955"/>
            <a:ext cx="4523740" cy="427355"/>
          </a:xfrm>
          <a:prstGeom prst="roundRect">
            <a:avLst/>
          </a:prstGeom>
          <a:gradFill>
            <a:gsLst>
              <a:gs pos="0">
                <a:srgbClr val="46DBC9"/>
              </a:gs>
              <a:gs pos="100000">
                <a:srgbClr val="26C0AC"/>
              </a:gs>
            </a:gsLst>
            <a:lin ang="5400000" scaled="0"/>
          </a:gradFill>
          <a:ln>
            <a:noFill/>
          </a:ln>
          <a:effectLst>
            <a:outerShdw blurRad="50800" dist="38100" dir="5400000" algn="t" rotWithShape="0">
              <a:srgbClr val="26C0AC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竞聘人：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娜扎开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提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/>
        </p:nvSpPr>
        <p:spPr>
          <a:xfrm>
            <a:off x="447675" y="393700"/>
            <a:ext cx="346710" cy="346710"/>
          </a:xfrm>
          <a:prstGeom prst="ellipse">
            <a:avLst/>
          </a:prstGeom>
          <a:solidFill>
            <a:srgbClr val="FB5D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 flipH="1">
            <a:off x="6915785" y="0"/>
            <a:ext cx="5280660" cy="68573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316" h="10799">
                <a:moveTo>
                  <a:pt x="113" y="0"/>
                </a:moveTo>
                <a:lnTo>
                  <a:pt x="4764" y="0"/>
                </a:lnTo>
                <a:lnTo>
                  <a:pt x="4792" y="12"/>
                </a:lnTo>
                <a:cubicBezTo>
                  <a:pt x="6866" y="920"/>
                  <a:pt x="8316" y="2990"/>
                  <a:pt x="8316" y="5400"/>
                </a:cubicBezTo>
                <a:cubicBezTo>
                  <a:pt x="8316" y="7809"/>
                  <a:pt x="6866" y="9879"/>
                  <a:pt x="4792" y="10787"/>
                </a:cubicBezTo>
                <a:lnTo>
                  <a:pt x="4764" y="10799"/>
                </a:lnTo>
                <a:lnTo>
                  <a:pt x="113" y="10799"/>
                </a:lnTo>
                <a:lnTo>
                  <a:pt x="85" y="10787"/>
                </a:lnTo>
                <a:cubicBezTo>
                  <a:pt x="63" y="10777"/>
                  <a:pt x="41" y="10768"/>
                  <a:pt x="20" y="10758"/>
                </a:cubicBezTo>
                <a:lnTo>
                  <a:pt x="0" y="10749"/>
                </a:lnTo>
                <a:lnTo>
                  <a:pt x="0" y="50"/>
                </a:lnTo>
                <a:lnTo>
                  <a:pt x="20" y="41"/>
                </a:lnTo>
                <a:cubicBezTo>
                  <a:pt x="41" y="31"/>
                  <a:pt x="63" y="22"/>
                  <a:pt x="85" y="12"/>
                </a:cubicBezTo>
                <a:lnTo>
                  <a:pt x="113" y="0"/>
                </a:lnTo>
                <a:close/>
              </a:path>
            </a:pathLst>
          </a:custGeom>
          <a:solidFill>
            <a:srgbClr val="46DB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 flipH="1">
            <a:off x="7397750" y="635"/>
            <a:ext cx="4790440" cy="68573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544" h="10799">
                <a:moveTo>
                  <a:pt x="0" y="0"/>
                </a:moveTo>
                <a:lnTo>
                  <a:pt x="3994" y="0"/>
                </a:lnTo>
                <a:lnTo>
                  <a:pt x="4020" y="11"/>
                </a:lnTo>
                <a:cubicBezTo>
                  <a:pt x="6094" y="919"/>
                  <a:pt x="7544" y="2989"/>
                  <a:pt x="7544" y="5399"/>
                </a:cubicBezTo>
                <a:cubicBezTo>
                  <a:pt x="7544" y="7808"/>
                  <a:pt x="6094" y="9878"/>
                  <a:pt x="4020" y="10786"/>
                </a:cubicBezTo>
                <a:lnTo>
                  <a:pt x="3989" y="10799"/>
                </a:lnTo>
                <a:lnTo>
                  <a:pt x="0" y="10799"/>
                </a:lnTo>
                <a:lnTo>
                  <a:pt x="0" y="0"/>
                </a:lnTo>
                <a:close/>
              </a:path>
            </a:pathLst>
          </a:custGeom>
          <a:solidFill>
            <a:srgbClr val="26C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4" name="图形 4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710" y="1306195"/>
            <a:ext cx="5133340" cy="58635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21030" y="1295460"/>
            <a:ext cx="5031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+mj-lt"/>
                <a:ea typeface="思源黑体 CN Bold" charset="-122"/>
              </a:rPr>
              <a:t>CONTENTS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794385" y="2259330"/>
            <a:ext cx="6094730" cy="680720"/>
            <a:chOff x="1251" y="3498"/>
            <a:chExt cx="9598" cy="1072"/>
          </a:xfrm>
        </p:grpSpPr>
        <p:sp>
          <p:nvSpPr>
            <p:cNvPr id="7" name="文本框 6"/>
            <p:cNvSpPr txBox="1"/>
            <p:nvPr/>
          </p:nvSpPr>
          <p:spPr>
            <a:xfrm>
              <a:off x="3231" y="3574"/>
              <a:ext cx="76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rgbClr val="26C0A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个人简历介绍</a:t>
              </a: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1251" y="3498"/>
              <a:ext cx="1748" cy="1072"/>
            </a:xfrm>
            <a:prstGeom prst="roundRect">
              <a:avLst/>
            </a:prstGeom>
            <a:gradFill>
              <a:gsLst>
                <a:gs pos="0">
                  <a:srgbClr val="46DBC9"/>
                </a:gs>
                <a:gs pos="100000">
                  <a:srgbClr val="26C0AC"/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algn="t" rotWithShape="0">
                <a:srgbClr val="26C0AC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latin typeface="+mj-lt"/>
                  <a:ea typeface="思源黑体 CN Bold" charset="-122"/>
                </a:rPr>
                <a:t>01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94385" y="3265805"/>
            <a:ext cx="6095365" cy="680720"/>
            <a:chOff x="1251" y="3498"/>
            <a:chExt cx="9599" cy="1072"/>
          </a:xfrm>
        </p:grpSpPr>
        <p:sp>
          <p:nvSpPr>
            <p:cNvPr id="15" name="文本框 14"/>
            <p:cNvSpPr txBox="1"/>
            <p:nvPr/>
          </p:nvSpPr>
          <p:spPr>
            <a:xfrm>
              <a:off x="3231" y="3574"/>
              <a:ext cx="7619" cy="9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rgbClr val="26C0A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个人账号</a:t>
              </a:r>
              <a:r>
                <a:rPr lang="en-US" altLang="zh-CN" sz="3200" dirty="0" err="1">
                  <a:solidFill>
                    <a:srgbClr val="26C0A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展示</a:t>
              </a:r>
              <a:endParaRPr lang="en-US" altLang="zh-CN" sz="3200" dirty="0">
                <a:solidFill>
                  <a:srgbClr val="26C0A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1251" y="3498"/>
              <a:ext cx="1748" cy="1072"/>
            </a:xfrm>
            <a:prstGeom prst="roundRect">
              <a:avLst/>
            </a:prstGeom>
            <a:gradFill>
              <a:gsLst>
                <a:gs pos="0">
                  <a:srgbClr val="46DBC9"/>
                </a:gs>
                <a:gs pos="100000">
                  <a:srgbClr val="26C0AC"/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algn="t" rotWithShape="0">
                <a:srgbClr val="26C0AC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latin typeface="+mj-lt"/>
                  <a:ea typeface="思源黑体 CN Bold" charset="-122"/>
                </a:rPr>
                <a:t>02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94385" y="4272280"/>
            <a:ext cx="6095365" cy="680720"/>
            <a:chOff x="1251" y="3498"/>
            <a:chExt cx="9599" cy="1072"/>
          </a:xfrm>
        </p:grpSpPr>
        <p:sp>
          <p:nvSpPr>
            <p:cNvPr id="18" name="文本框 17"/>
            <p:cNvSpPr txBox="1"/>
            <p:nvPr/>
          </p:nvSpPr>
          <p:spPr>
            <a:xfrm>
              <a:off x="3231" y="3574"/>
              <a:ext cx="7619" cy="9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rgbClr val="26C0A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校园</a:t>
              </a:r>
              <a:r>
                <a:rPr lang="en-US" altLang="zh-CN" sz="3200" dirty="0" err="1">
                  <a:solidFill>
                    <a:srgbClr val="26C0A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运营展示</a:t>
              </a:r>
              <a:endParaRPr lang="en-US" altLang="zh-CN" sz="3200" dirty="0">
                <a:solidFill>
                  <a:srgbClr val="26C0A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1251" y="3498"/>
              <a:ext cx="1748" cy="1072"/>
            </a:xfrm>
            <a:prstGeom prst="roundRect">
              <a:avLst/>
            </a:prstGeom>
            <a:gradFill>
              <a:gsLst>
                <a:gs pos="0">
                  <a:srgbClr val="46DBC9"/>
                </a:gs>
                <a:gs pos="100000">
                  <a:srgbClr val="26C0AC"/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algn="t" rotWithShape="0">
                <a:srgbClr val="26C0AC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latin typeface="+mj-lt"/>
                  <a:ea typeface="思源黑体 CN Bold" charset="-122"/>
                </a:rPr>
                <a:t>03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/>
        </p:nvSpPr>
        <p:spPr>
          <a:xfrm>
            <a:off x="447675" y="393700"/>
            <a:ext cx="346710" cy="346710"/>
          </a:xfrm>
          <a:prstGeom prst="ellipse">
            <a:avLst/>
          </a:prstGeom>
          <a:solidFill>
            <a:srgbClr val="FB5D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 rot="5400000" flipH="1">
            <a:off x="4676140" y="-657860"/>
            <a:ext cx="2841625" cy="121920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316" h="10799">
                <a:moveTo>
                  <a:pt x="113" y="0"/>
                </a:moveTo>
                <a:lnTo>
                  <a:pt x="4764" y="0"/>
                </a:lnTo>
                <a:lnTo>
                  <a:pt x="4792" y="12"/>
                </a:lnTo>
                <a:cubicBezTo>
                  <a:pt x="6866" y="920"/>
                  <a:pt x="8316" y="2990"/>
                  <a:pt x="8316" y="5400"/>
                </a:cubicBezTo>
                <a:cubicBezTo>
                  <a:pt x="8316" y="7809"/>
                  <a:pt x="6866" y="9879"/>
                  <a:pt x="4792" y="10787"/>
                </a:cubicBezTo>
                <a:lnTo>
                  <a:pt x="4764" y="10799"/>
                </a:lnTo>
                <a:lnTo>
                  <a:pt x="113" y="10799"/>
                </a:lnTo>
                <a:lnTo>
                  <a:pt x="85" y="10787"/>
                </a:lnTo>
                <a:cubicBezTo>
                  <a:pt x="63" y="10777"/>
                  <a:pt x="41" y="10768"/>
                  <a:pt x="20" y="10758"/>
                </a:cubicBezTo>
                <a:lnTo>
                  <a:pt x="0" y="10749"/>
                </a:lnTo>
                <a:lnTo>
                  <a:pt x="0" y="50"/>
                </a:lnTo>
                <a:lnTo>
                  <a:pt x="20" y="41"/>
                </a:lnTo>
                <a:cubicBezTo>
                  <a:pt x="41" y="31"/>
                  <a:pt x="63" y="22"/>
                  <a:pt x="85" y="12"/>
                </a:cubicBezTo>
                <a:lnTo>
                  <a:pt x="113" y="0"/>
                </a:lnTo>
                <a:close/>
              </a:path>
            </a:pathLst>
          </a:custGeom>
          <a:solidFill>
            <a:srgbClr val="46DB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 rot="16200000" flipV="1">
            <a:off x="4838065" y="-495935"/>
            <a:ext cx="2517775" cy="121920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544" h="10799">
                <a:moveTo>
                  <a:pt x="0" y="0"/>
                </a:moveTo>
                <a:lnTo>
                  <a:pt x="3994" y="0"/>
                </a:lnTo>
                <a:lnTo>
                  <a:pt x="4020" y="11"/>
                </a:lnTo>
                <a:cubicBezTo>
                  <a:pt x="6094" y="919"/>
                  <a:pt x="7544" y="2989"/>
                  <a:pt x="7544" y="5399"/>
                </a:cubicBezTo>
                <a:cubicBezTo>
                  <a:pt x="7544" y="7808"/>
                  <a:pt x="6094" y="9878"/>
                  <a:pt x="4020" y="10786"/>
                </a:cubicBezTo>
                <a:lnTo>
                  <a:pt x="3989" y="10799"/>
                </a:lnTo>
                <a:lnTo>
                  <a:pt x="0" y="10799"/>
                </a:lnTo>
                <a:lnTo>
                  <a:pt x="0" y="0"/>
                </a:lnTo>
                <a:close/>
              </a:path>
            </a:pathLst>
          </a:custGeom>
          <a:solidFill>
            <a:srgbClr val="26C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0" y="1078230"/>
            <a:ext cx="3617595" cy="470154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382895" y="1078230"/>
            <a:ext cx="53987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6000" dirty="0">
                <a:solidFill>
                  <a:srgbClr val="26C0AC"/>
                </a:solidFill>
                <a:latin typeface="+mj-lt"/>
                <a:ea typeface="思源黑体 CN Bold" charset="-122"/>
              </a:rPr>
              <a:t>PART 01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382895" y="2333308"/>
            <a:ext cx="55175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琥珀" panose="02010800040101010101" pitchFamily="2" charset="-122"/>
                <a:ea typeface="华文琥珀" panose="02010800040101010101" pitchFamily="2" charset="-122"/>
                <a:sym typeface="+mn-ea"/>
              </a:rPr>
              <a:t>个人简历介绍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/>
        </p:nvSpPr>
        <p:spPr>
          <a:xfrm>
            <a:off x="11396980" y="393700"/>
            <a:ext cx="346710" cy="346710"/>
          </a:xfrm>
          <a:prstGeom prst="ellipse">
            <a:avLst/>
          </a:prstGeom>
          <a:solidFill>
            <a:srgbClr val="FB5D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47675" y="393700"/>
            <a:ext cx="76200" cy="347345"/>
          </a:xfrm>
          <a:prstGeom prst="roundRect">
            <a:avLst/>
          </a:prstGeom>
          <a:solidFill>
            <a:srgbClr val="FB5D6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思源黑体 CN Bold" charset="-122"/>
              <a:ea typeface="思源黑体 CN Bold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9925" y="275590"/>
            <a:ext cx="48380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26C0AC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个人基本情况</a:t>
            </a:r>
          </a:p>
        </p:txBody>
      </p:sp>
      <p:pic>
        <p:nvPicPr>
          <p:cNvPr id="54" name="图形 5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05" y="1028700"/>
            <a:ext cx="4599940" cy="543750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681245" y="1533224"/>
            <a:ext cx="5151755" cy="2085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自我介绍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2400" b="0" i="0" dirty="0">
                <a:effectLst/>
                <a:latin typeface="华康金刚黑A" panose="020B0400000000000000" pitchFamily="34" charset="-122"/>
                <a:ea typeface="华康金刚黑A" panose="020B0400000000000000" pitchFamily="34" charset="-122"/>
              </a:rPr>
              <a:t>熟悉新媒体运营工作，具备出色的内容创作和组织能力。熟练掌握美图、视频剪辑和排版软件（如秀米、剪映），是各大新媒体平台的资深用户，拥有丰富的账号运营经验，对新媒体运营充满热情和学习动力。</a:t>
            </a:r>
            <a:endParaRPr lang="en-US" altLang="zh-CN" sz="2400" dirty="0">
              <a:latin typeface="华康金刚黑A" panose="020B0400000000000000" pitchFamily="34" charset="-122"/>
              <a:ea typeface="华康金刚黑A" panose="020B0400000000000000" pitchFamily="34" charset="-122"/>
            </a:endParaRPr>
          </a:p>
          <a:p>
            <a:pPr indent="0">
              <a:lnSpc>
                <a:spcPct val="100000"/>
              </a:lnSpc>
              <a:buNone/>
            </a:pPr>
            <a:endParaRPr lang="en-US" altLang="zh-CN" sz="2400" dirty="0">
              <a:latin typeface="华康金刚黑A" panose="020B0400000000000000" pitchFamily="34" charset="-122"/>
              <a:ea typeface="华康金刚黑A" panose="020B0400000000000000" pitchFamily="34" charset="-122"/>
            </a:endParaRPr>
          </a:p>
          <a:p>
            <a:pPr indent="0">
              <a:lnSpc>
                <a:spcPct val="100000"/>
              </a:lnSpc>
              <a:buNone/>
            </a:pPr>
            <a:endParaRPr lang="zh-CN" altLang="en-US" sz="2400" dirty="0">
              <a:latin typeface="Calibri" charset="0"/>
              <a:ea typeface="Calibri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/>
        </p:nvSpPr>
        <p:spPr>
          <a:xfrm>
            <a:off x="11396980" y="393700"/>
            <a:ext cx="346710" cy="346710"/>
          </a:xfrm>
          <a:prstGeom prst="ellipse">
            <a:avLst/>
          </a:prstGeom>
          <a:solidFill>
            <a:srgbClr val="FB5D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47675" y="393700"/>
            <a:ext cx="76200" cy="347345"/>
          </a:xfrm>
          <a:prstGeom prst="roundRect">
            <a:avLst/>
          </a:prstGeom>
          <a:solidFill>
            <a:srgbClr val="FB5D6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思源黑体 CN Bold" charset="-122"/>
              <a:ea typeface="思源黑体 CN Bold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9925" y="275590"/>
            <a:ext cx="48380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26C0A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运营经历</a:t>
            </a:r>
          </a:p>
        </p:txBody>
      </p:sp>
      <p:sp>
        <p:nvSpPr>
          <p:cNvPr id="4" name="任意多边形 3"/>
          <p:cNvSpPr/>
          <p:nvPr/>
        </p:nvSpPr>
        <p:spPr>
          <a:xfrm rot="5400000" flipH="1">
            <a:off x="4676140" y="707390"/>
            <a:ext cx="2841625" cy="121920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316" h="10799">
                <a:moveTo>
                  <a:pt x="113" y="0"/>
                </a:moveTo>
                <a:lnTo>
                  <a:pt x="4764" y="0"/>
                </a:lnTo>
                <a:lnTo>
                  <a:pt x="4792" y="12"/>
                </a:lnTo>
                <a:cubicBezTo>
                  <a:pt x="6866" y="920"/>
                  <a:pt x="8316" y="2990"/>
                  <a:pt x="8316" y="5400"/>
                </a:cubicBezTo>
                <a:cubicBezTo>
                  <a:pt x="8316" y="7809"/>
                  <a:pt x="6866" y="9879"/>
                  <a:pt x="4792" y="10787"/>
                </a:cubicBezTo>
                <a:lnTo>
                  <a:pt x="4764" y="10799"/>
                </a:lnTo>
                <a:lnTo>
                  <a:pt x="113" y="10799"/>
                </a:lnTo>
                <a:lnTo>
                  <a:pt x="85" y="10787"/>
                </a:lnTo>
                <a:cubicBezTo>
                  <a:pt x="63" y="10777"/>
                  <a:pt x="41" y="10768"/>
                  <a:pt x="20" y="10758"/>
                </a:cubicBezTo>
                <a:lnTo>
                  <a:pt x="0" y="10749"/>
                </a:lnTo>
                <a:lnTo>
                  <a:pt x="0" y="50"/>
                </a:lnTo>
                <a:lnTo>
                  <a:pt x="20" y="41"/>
                </a:lnTo>
                <a:cubicBezTo>
                  <a:pt x="41" y="31"/>
                  <a:pt x="63" y="22"/>
                  <a:pt x="85" y="12"/>
                </a:cubicBezTo>
                <a:lnTo>
                  <a:pt x="113" y="0"/>
                </a:lnTo>
                <a:close/>
              </a:path>
            </a:pathLst>
          </a:custGeom>
          <a:solidFill>
            <a:srgbClr val="46DB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2469515" y="1005840"/>
            <a:ext cx="0" cy="5486400"/>
          </a:xfrm>
          <a:prstGeom prst="line">
            <a:avLst/>
          </a:prstGeom>
          <a:ln w="57150">
            <a:solidFill>
              <a:srgbClr val="46DBC9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4"/>
          <p:cNvSpPr/>
          <p:nvPr/>
        </p:nvSpPr>
        <p:spPr>
          <a:xfrm rot="16200000" flipV="1">
            <a:off x="4838065" y="869315"/>
            <a:ext cx="2517775" cy="121920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544" h="10799">
                <a:moveTo>
                  <a:pt x="0" y="0"/>
                </a:moveTo>
                <a:lnTo>
                  <a:pt x="3994" y="0"/>
                </a:lnTo>
                <a:lnTo>
                  <a:pt x="4020" y="11"/>
                </a:lnTo>
                <a:cubicBezTo>
                  <a:pt x="6094" y="919"/>
                  <a:pt x="7544" y="2989"/>
                  <a:pt x="7544" y="5399"/>
                </a:cubicBezTo>
                <a:cubicBezTo>
                  <a:pt x="7544" y="7808"/>
                  <a:pt x="6094" y="9878"/>
                  <a:pt x="4020" y="10786"/>
                </a:cubicBezTo>
                <a:lnTo>
                  <a:pt x="3989" y="10799"/>
                </a:lnTo>
                <a:lnTo>
                  <a:pt x="0" y="10799"/>
                </a:lnTo>
                <a:lnTo>
                  <a:pt x="0" y="0"/>
                </a:lnTo>
                <a:close/>
              </a:path>
            </a:pathLst>
          </a:custGeom>
          <a:solidFill>
            <a:srgbClr val="26C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2651372" y="4102100"/>
            <a:ext cx="292100" cy="292100"/>
          </a:xfrm>
          <a:prstGeom prst="ellipse">
            <a:avLst/>
          </a:prstGeom>
          <a:solidFill>
            <a:srgbClr val="FB5D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323465" y="2872740"/>
            <a:ext cx="292100" cy="292100"/>
          </a:xfrm>
          <a:prstGeom prst="ellipse">
            <a:avLst/>
          </a:prstGeom>
          <a:solidFill>
            <a:srgbClr val="FB5D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323465" y="1297940"/>
            <a:ext cx="292100" cy="292100"/>
          </a:xfrm>
          <a:prstGeom prst="ellipse">
            <a:avLst/>
          </a:prstGeom>
          <a:solidFill>
            <a:srgbClr val="FB5D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802255" y="1244600"/>
            <a:ext cx="8294370" cy="8535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2021.06—2022.06  	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小红书图文类账号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运营人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802255" y="2819400"/>
            <a:ext cx="8288655" cy="8535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None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2021.10—2022.09 	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校团委实践部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+mn-ea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组织宣传理事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44" name="图形 4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780" y="4641215"/>
            <a:ext cx="2200910" cy="251523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/>
        </p:nvSpPr>
        <p:spPr>
          <a:xfrm>
            <a:off x="447675" y="393700"/>
            <a:ext cx="346710" cy="346710"/>
          </a:xfrm>
          <a:prstGeom prst="ellipse">
            <a:avLst/>
          </a:prstGeom>
          <a:solidFill>
            <a:srgbClr val="FB5D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 rot="5400000" flipH="1">
            <a:off x="4676140" y="-657860"/>
            <a:ext cx="2841625" cy="121920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316" h="10799">
                <a:moveTo>
                  <a:pt x="113" y="0"/>
                </a:moveTo>
                <a:lnTo>
                  <a:pt x="4764" y="0"/>
                </a:lnTo>
                <a:lnTo>
                  <a:pt x="4792" y="12"/>
                </a:lnTo>
                <a:cubicBezTo>
                  <a:pt x="6866" y="920"/>
                  <a:pt x="8316" y="2990"/>
                  <a:pt x="8316" y="5400"/>
                </a:cubicBezTo>
                <a:cubicBezTo>
                  <a:pt x="8316" y="7809"/>
                  <a:pt x="6866" y="9879"/>
                  <a:pt x="4792" y="10787"/>
                </a:cubicBezTo>
                <a:lnTo>
                  <a:pt x="4764" y="10799"/>
                </a:lnTo>
                <a:lnTo>
                  <a:pt x="113" y="10799"/>
                </a:lnTo>
                <a:lnTo>
                  <a:pt x="85" y="10787"/>
                </a:lnTo>
                <a:cubicBezTo>
                  <a:pt x="63" y="10777"/>
                  <a:pt x="41" y="10768"/>
                  <a:pt x="20" y="10758"/>
                </a:cubicBezTo>
                <a:lnTo>
                  <a:pt x="0" y="10749"/>
                </a:lnTo>
                <a:lnTo>
                  <a:pt x="0" y="50"/>
                </a:lnTo>
                <a:lnTo>
                  <a:pt x="20" y="41"/>
                </a:lnTo>
                <a:cubicBezTo>
                  <a:pt x="41" y="31"/>
                  <a:pt x="63" y="22"/>
                  <a:pt x="85" y="12"/>
                </a:cubicBezTo>
                <a:lnTo>
                  <a:pt x="113" y="0"/>
                </a:lnTo>
                <a:close/>
              </a:path>
            </a:pathLst>
          </a:custGeom>
          <a:solidFill>
            <a:srgbClr val="46DB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 rot="16200000" flipV="1">
            <a:off x="4838065" y="-495935"/>
            <a:ext cx="2517775" cy="121920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544" h="10799">
                <a:moveTo>
                  <a:pt x="0" y="0"/>
                </a:moveTo>
                <a:lnTo>
                  <a:pt x="3994" y="0"/>
                </a:lnTo>
                <a:lnTo>
                  <a:pt x="4020" y="11"/>
                </a:lnTo>
                <a:cubicBezTo>
                  <a:pt x="6094" y="919"/>
                  <a:pt x="7544" y="2989"/>
                  <a:pt x="7544" y="5399"/>
                </a:cubicBezTo>
                <a:cubicBezTo>
                  <a:pt x="7544" y="7808"/>
                  <a:pt x="6094" y="9878"/>
                  <a:pt x="4020" y="10786"/>
                </a:cubicBezTo>
                <a:lnTo>
                  <a:pt x="3989" y="10799"/>
                </a:lnTo>
                <a:lnTo>
                  <a:pt x="0" y="10799"/>
                </a:lnTo>
                <a:lnTo>
                  <a:pt x="0" y="0"/>
                </a:lnTo>
                <a:close/>
              </a:path>
            </a:pathLst>
          </a:custGeom>
          <a:solidFill>
            <a:srgbClr val="26C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0" y="1078230"/>
            <a:ext cx="3617595" cy="470154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382895" y="1078230"/>
            <a:ext cx="53987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6000" dirty="0">
                <a:solidFill>
                  <a:srgbClr val="26C0AC"/>
                </a:solidFill>
                <a:latin typeface="+mj-lt"/>
                <a:ea typeface="思源黑体 CN Bold" charset="-122"/>
              </a:rPr>
              <a:t>PART 02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382895" y="2291715"/>
            <a:ext cx="55175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琥珀" panose="02010800040101010101" pitchFamily="2" charset="-122"/>
                <a:ea typeface="华文琥珀" panose="02010800040101010101" pitchFamily="2" charset="-122"/>
                <a:sym typeface="+mn-ea"/>
              </a:rPr>
              <a:t>个人账号展示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/>
        </p:nvSpPr>
        <p:spPr>
          <a:xfrm>
            <a:off x="11396980" y="393700"/>
            <a:ext cx="346710" cy="346710"/>
          </a:xfrm>
          <a:prstGeom prst="ellipse">
            <a:avLst/>
          </a:prstGeom>
          <a:solidFill>
            <a:srgbClr val="FB5D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47675" y="393700"/>
            <a:ext cx="76200" cy="347345"/>
          </a:xfrm>
          <a:prstGeom prst="roundRect">
            <a:avLst/>
          </a:prstGeom>
          <a:solidFill>
            <a:srgbClr val="FB5D6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思源黑体 CN Bold" charset="-122"/>
              <a:ea typeface="思源黑体 CN Bold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9925" y="275590"/>
            <a:ext cx="48380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26C0A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小红书账户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485775" y="867410"/>
            <a:ext cx="4048760" cy="1164590"/>
            <a:chOff x="765" y="1366"/>
            <a:chExt cx="6376" cy="1834"/>
          </a:xfrm>
        </p:grpSpPr>
        <p:sp>
          <p:nvSpPr>
            <p:cNvPr id="2" name="Rectangle 111"/>
            <p:cNvSpPr txBox="1"/>
            <p:nvPr/>
          </p:nvSpPr>
          <p:spPr>
            <a:xfrm>
              <a:off x="1134" y="2607"/>
              <a:ext cx="6007" cy="5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endPara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charset="-122"/>
                <a:ea typeface="思源黑体 CN Medium" charset="-122"/>
                <a:sym typeface="+mn-ea"/>
              </a:endParaRPr>
            </a:p>
          </p:txBody>
        </p:sp>
        <p:sp>
          <p:nvSpPr>
            <p:cNvPr id="3" name="Rectangle 111"/>
            <p:cNvSpPr txBox="1"/>
            <p:nvPr/>
          </p:nvSpPr>
          <p:spPr>
            <a:xfrm>
              <a:off x="765" y="1366"/>
              <a:ext cx="5410" cy="8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彩云" panose="02010800040101010101" pitchFamily="2" charset="-122"/>
                  <a:ea typeface="华文彩云" panose="02010800040101010101" pitchFamily="2" charset="-122"/>
                </a:rPr>
                <a:t>数据</a:t>
              </a:r>
              <a:endParaRPr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彩云" panose="02010800040101010101" pitchFamily="2" charset="-122"/>
                <a:ea typeface="华文彩云" panose="02010800040101010101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20090" y="3048635"/>
            <a:ext cx="3814445" cy="882015"/>
            <a:chOff x="1134" y="4860"/>
            <a:chExt cx="6007" cy="1389"/>
          </a:xfrm>
        </p:grpSpPr>
        <p:sp>
          <p:nvSpPr>
            <p:cNvPr id="4" name="Rectangle 111"/>
            <p:cNvSpPr txBox="1"/>
            <p:nvPr/>
          </p:nvSpPr>
          <p:spPr>
            <a:xfrm>
              <a:off x="1134" y="5656"/>
              <a:ext cx="6007" cy="5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charset="-122"/>
                  <a:ea typeface="思源黑体 CN Medium" charset="-122"/>
                </a:rPr>
                <a:t> </a:t>
              </a:r>
              <a:endPara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charset="-122"/>
                <a:ea typeface="思源黑体 CN Medium" charset="-122"/>
                <a:sym typeface="+mn-ea"/>
              </a:endParaRPr>
            </a:p>
          </p:txBody>
        </p:sp>
        <p:sp>
          <p:nvSpPr>
            <p:cNvPr id="5" name="Rectangle 111"/>
            <p:cNvSpPr txBox="1"/>
            <p:nvPr/>
          </p:nvSpPr>
          <p:spPr>
            <a:xfrm>
              <a:off x="1134" y="4860"/>
              <a:ext cx="5410" cy="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charset="-122"/>
                  <a:ea typeface="思源黑体 CN Bold" charset="-122"/>
                </a:rPr>
                <a:t> </a:t>
              </a:r>
              <a:endPara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charset="-122"/>
                <a:ea typeface="思源黑体 CN Bold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169727" y="2825115"/>
            <a:ext cx="3814445" cy="1207770"/>
            <a:chOff x="1134" y="7791"/>
            <a:chExt cx="6007" cy="1902"/>
          </a:xfrm>
        </p:grpSpPr>
        <p:sp>
          <p:nvSpPr>
            <p:cNvPr id="6" name="Rectangle 111"/>
            <p:cNvSpPr txBox="1"/>
            <p:nvPr/>
          </p:nvSpPr>
          <p:spPr>
            <a:xfrm>
              <a:off x="1134" y="8587"/>
              <a:ext cx="6007" cy="5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endPara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charset="-122"/>
                <a:ea typeface="思源黑体 CN Medium" charset="-122"/>
                <a:sym typeface="+mn-ea"/>
              </a:endParaRPr>
            </a:p>
          </p:txBody>
        </p:sp>
        <p:sp>
          <p:nvSpPr>
            <p:cNvPr id="8" name="Rectangle 111"/>
            <p:cNvSpPr txBox="1"/>
            <p:nvPr/>
          </p:nvSpPr>
          <p:spPr>
            <a:xfrm>
              <a:off x="1134" y="7791"/>
              <a:ext cx="5410" cy="1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账号从</a:t>
              </a:r>
              <a:r>
                <a:rPr lang="en-US" altLang="zh-C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搭建运营近一年，</a:t>
              </a:r>
              <a:r>
                <a:rPr lang="en-US" altLang="zh-C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成本增粉</a:t>
              </a:r>
              <a:r>
                <a:rPr lang="en-US" altLang="zh-C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3000+</a:t>
              </a:r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，当前获赞与收藏数为</a:t>
              </a:r>
              <a:r>
                <a:rPr lang="en-US" altLang="zh-C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4.5</a:t>
              </a:r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万</a:t>
              </a:r>
              <a:endPara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7833360" y="1149985"/>
            <a:ext cx="3814445" cy="1991230"/>
            <a:chOff x="1134" y="1811"/>
            <a:chExt cx="6007" cy="2966"/>
          </a:xfrm>
        </p:grpSpPr>
        <p:sp>
          <p:nvSpPr>
            <p:cNvPr id="17" name="Rectangle 111"/>
            <p:cNvSpPr txBox="1"/>
            <p:nvPr/>
          </p:nvSpPr>
          <p:spPr>
            <a:xfrm>
              <a:off x="1134" y="2607"/>
              <a:ext cx="6007" cy="21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定位：穿搭风格推荐，服装店铺推荐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endParaRPr>
            </a:p>
            <a:p>
              <a:pPr fontAlgn="auto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目标用户：活跃于网络，追随潮流的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GENZ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人群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endParaRPr>
            </a:p>
            <a:p>
              <a:pPr fontAlgn="auto">
                <a:lnSpc>
                  <a:spcPct val="130000"/>
                </a:lnSpc>
              </a:pPr>
              <a:endPara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charset="-122"/>
                <a:ea typeface="思源黑体 CN Medium" charset="-122"/>
                <a:sym typeface="+mn-ea"/>
              </a:endParaRPr>
            </a:p>
          </p:txBody>
        </p:sp>
        <p:sp>
          <p:nvSpPr>
            <p:cNvPr id="18" name="Rectangle 111"/>
            <p:cNvSpPr txBox="1"/>
            <p:nvPr/>
          </p:nvSpPr>
          <p:spPr>
            <a:xfrm>
              <a:off x="1134" y="1811"/>
              <a:ext cx="5410" cy="7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彩云" panose="02010800040101010101" pitchFamily="2" charset="-122"/>
                  <a:ea typeface="华文彩云" panose="02010800040101010101" pitchFamily="2" charset="-122"/>
                </a:rPr>
                <a:t>定位</a:t>
              </a:r>
              <a:endParaRPr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彩云" panose="02010800040101010101" pitchFamily="2" charset="-122"/>
                <a:ea typeface="华文彩云" panose="02010800040101010101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833359" y="4273550"/>
            <a:ext cx="3814445" cy="1242060"/>
            <a:chOff x="1134" y="4860"/>
            <a:chExt cx="6007" cy="1956"/>
          </a:xfrm>
        </p:grpSpPr>
        <p:sp>
          <p:nvSpPr>
            <p:cNvPr id="20" name="Rectangle 111"/>
            <p:cNvSpPr txBox="1"/>
            <p:nvPr/>
          </p:nvSpPr>
          <p:spPr>
            <a:xfrm>
              <a:off x="1134" y="5656"/>
              <a:ext cx="6007" cy="11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追踪平台近期热点，拆解爆款标题正文，排版，关键词分布，话题等模仿</a:t>
              </a:r>
              <a:endPara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endParaRPr>
            </a:p>
          </p:txBody>
        </p:sp>
        <p:sp>
          <p:nvSpPr>
            <p:cNvPr id="21" name="Rectangle 111"/>
            <p:cNvSpPr txBox="1"/>
            <p:nvPr/>
          </p:nvSpPr>
          <p:spPr>
            <a:xfrm>
              <a:off x="1134" y="4860"/>
              <a:ext cx="5410" cy="7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彩云" panose="02010800040101010101" pitchFamily="2" charset="-122"/>
                  <a:ea typeface="华文彩云" panose="02010800040101010101" pitchFamily="2" charset="-122"/>
                </a:rPr>
                <a:t>爆款打造</a:t>
              </a:r>
              <a:endParaRPr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彩云" panose="02010800040101010101" pitchFamily="2" charset="-122"/>
                <a:ea typeface="华文彩云" panose="02010800040101010101" pitchFamily="2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377555" y="5074602"/>
            <a:ext cx="3814445" cy="882015"/>
            <a:chOff x="1134" y="7791"/>
            <a:chExt cx="6007" cy="1389"/>
          </a:xfrm>
        </p:grpSpPr>
        <p:sp>
          <p:nvSpPr>
            <p:cNvPr id="23" name="Rectangle 111"/>
            <p:cNvSpPr txBox="1"/>
            <p:nvPr/>
          </p:nvSpPr>
          <p:spPr>
            <a:xfrm>
              <a:off x="1134" y="8587"/>
              <a:ext cx="6007" cy="5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endPara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charset="-122"/>
                <a:ea typeface="思源黑体 CN Medium" charset="-122"/>
                <a:sym typeface="+mn-ea"/>
              </a:endParaRPr>
            </a:p>
          </p:txBody>
        </p:sp>
        <p:sp>
          <p:nvSpPr>
            <p:cNvPr id="25" name="Rectangle 111"/>
            <p:cNvSpPr txBox="1"/>
            <p:nvPr/>
          </p:nvSpPr>
          <p:spPr>
            <a:xfrm>
              <a:off x="1134" y="7791"/>
              <a:ext cx="5410" cy="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endPara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charset="-122"/>
                <a:ea typeface="思源黑体 CN Bold" charset="-122"/>
              </a:endParaRP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84F4AAAC-3C74-5955-2B9A-BFF70C5E24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705"/>
          <a:stretch/>
        </p:blipFill>
        <p:spPr>
          <a:xfrm>
            <a:off x="379095" y="1602573"/>
            <a:ext cx="3397250" cy="4316698"/>
          </a:xfrm>
          <a:prstGeom prst="rect">
            <a:avLst/>
          </a:prstGeom>
        </p:spPr>
      </p:pic>
      <p:sp>
        <p:nvSpPr>
          <p:cNvPr id="14" name="椭圆 13">
            <a:extLst>
              <a:ext uri="{FF2B5EF4-FFF2-40B4-BE49-F238E27FC236}">
                <a16:creationId xmlns:a16="http://schemas.microsoft.com/office/drawing/2014/main" id="{129ED9CA-56D8-DA05-7749-6C646FDB2ADF}"/>
              </a:ext>
            </a:extLst>
          </p:cNvPr>
          <p:cNvSpPr/>
          <p:nvPr/>
        </p:nvSpPr>
        <p:spPr>
          <a:xfrm>
            <a:off x="1253242" y="1771308"/>
            <a:ext cx="824478" cy="43816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/>
        </p:nvSpPr>
        <p:spPr>
          <a:xfrm>
            <a:off x="11396980" y="393700"/>
            <a:ext cx="346710" cy="346710"/>
          </a:xfrm>
          <a:prstGeom prst="ellipse">
            <a:avLst/>
          </a:prstGeom>
          <a:solidFill>
            <a:srgbClr val="FB5D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47675" y="393700"/>
            <a:ext cx="76200" cy="347345"/>
          </a:xfrm>
          <a:prstGeom prst="roundRect">
            <a:avLst/>
          </a:prstGeom>
          <a:solidFill>
            <a:srgbClr val="FB5D6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思源黑体 CN Bold" charset="-122"/>
              <a:ea typeface="思源黑体 CN Bold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9925" y="275590"/>
            <a:ext cx="48380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26C0A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内容展示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898602" y="-109855"/>
            <a:ext cx="5794070" cy="828040"/>
            <a:chOff x="964" y="1471"/>
            <a:chExt cx="6007" cy="1304"/>
          </a:xfrm>
        </p:grpSpPr>
        <p:sp>
          <p:nvSpPr>
            <p:cNvPr id="17" name="Rectangle 111"/>
            <p:cNvSpPr txBox="1"/>
            <p:nvPr/>
          </p:nvSpPr>
          <p:spPr>
            <a:xfrm>
              <a:off x="964" y="2216"/>
              <a:ext cx="6007" cy="5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共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83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篇笔记，篇均赞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361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，爆文率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33.2%</a:t>
              </a:r>
              <a:endPara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endParaRPr>
            </a:p>
          </p:txBody>
        </p:sp>
        <p:sp>
          <p:nvSpPr>
            <p:cNvPr id="18" name="Rectangle 111"/>
            <p:cNvSpPr txBox="1"/>
            <p:nvPr/>
          </p:nvSpPr>
          <p:spPr>
            <a:xfrm>
              <a:off x="964" y="1471"/>
              <a:ext cx="5410" cy="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endPara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charset="-122"/>
                <a:ea typeface="思源黑体 CN Bold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873115" y="3048635"/>
            <a:ext cx="5794070" cy="882015"/>
            <a:chOff x="1134" y="1811"/>
            <a:chExt cx="6007" cy="1389"/>
          </a:xfrm>
        </p:grpSpPr>
        <p:sp>
          <p:nvSpPr>
            <p:cNvPr id="5" name="Rectangle 111"/>
            <p:cNvSpPr txBox="1"/>
            <p:nvPr/>
          </p:nvSpPr>
          <p:spPr>
            <a:xfrm>
              <a:off x="1134" y="2607"/>
              <a:ext cx="6007" cy="5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r>
                <a:rPr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charset="-122"/>
                  <a:ea typeface="思源黑体 CN Medium" charset="-122"/>
                  <a:sym typeface="+mn-ea"/>
                </a:rPr>
                <a:t>观点</a:t>
              </a:r>
              <a:r>
                <a:rPr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charset="-122"/>
                  <a:ea typeface="思源黑体 CN Medium" charset="-122"/>
                  <a:sym typeface="+mn-ea"/>
                </a:rPr>
                <a:t>。</a:t>
              </a:r>
              <a:endPara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charset="-122"/>
                <a:ea typeface="思源黑体 CN Medium" charset="-122"/>
                <a:sym typeface="+mn-ea"/>
              </a:endParaRPr>
            </a:p>
          </p:txBody>
        </p:sp>
        <p:sp>
          <p:nvSpPr>
            <p:cNvPr id="6" name="Rectangle 111"/>
            <p:cNvSpPr txBox="1"/>
            <p:nvPr/>
          </p:nvSpPr>
          <p:spPr>
            <a:xfrm>
              <a:off x="1134" y="1811"/>
              <a:ext cx="5410" cy="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endPara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charset="-122"/>
                <a:ea typeface="思源黑体 CN Bold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747723" y="4980305"/>
            <a:ext cx="5919462" cy="848995"/>
            <a:chOff x="1004" y="1863"/>
            <a:chExt cx="6137" cy="1337"/>
          </a:xfrm>
        </p:grpSpPr>
        <p:sp>
          <p:nvSpPr>
            <p:cNvPr id="11" name="Rectangle 111"/>
            <p:cNvSpPr txBox="1"/>
            <p:nvPr/>
          </p:nvSpPr>
          <p:spPr>
            <a:xfrm>
              <a:off x="1134" y="2607"/>
              <a:ext cx="6007" cy="5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endPara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charset="-122"/>
                <a:ea typeface="思源黑体 CN Medium" charset="-122"/>
                <a:sym typeface="+mn-ea"/>
              </a:endParaRPr>
            </a:p>
          </p:txBody>
        </p:sp>
        <p:sp>
          <p:nvSpPr>
            <p:cNvPr id="12" name="Rectangle 111"/>
            <p:cNvSpPr txBox="1"/>
            <p:nvPr/>
          </p:nvSpPr>
          <p:spPr>
            <a:xfrm>
              <a:off x="1004" y="1863"/>
              <a:ext cx="5410" cy="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endPara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charset="-122"/>
                <a:ea typeface="思源黑体 CN Bold" charset="-122"/>
              </a:endParaRP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77123C29-7F79-C27F-01E0-6F3C09471E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39"/>
          <a:stretch/>
        </p:blipFill>
        <p:spPr>
          <a:xfrm>
            <a:off x="523875" y="1002231"/>
            <a:ext cx="2852253" cy="585576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7A64C8F-3DFC-C8E6-FF49-7EB3A4F0A35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741" r="-251" b="4138"/>
          <a:stretch/>
        </p:blipFill>
        <p:spPr>
          <a:xfrm>
            <a:off x="4011651" y="1021482"/>
            <a:ext cx="2947960" cy="573545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806F91A-4DBE-89FC-A096-1676E6AAE51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740" b="1755"/>
          <a:stretch/>
        </p:blipFill>
        <p:spPr>
          <a:xfrm>
            <a:off x="7848404" y="974090"/>
            <a:ext cx="2864807" cy="573545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/>
        </p:nvSpPr>
        <p:spPr>
          <a:xfrm>
            <a:off x="447675" y="393700"/>
            <a:ext cx="346710" cy="346710"/>
          </a:xfrm>
          <a:prstGeom prst="ellipse">
            <a:avLst/>
          </a:prstGeom>
          <a:solidFill>
            <a:srgbClr val="FB5D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 rot="5400000" flipH="1">
            <a:off x="4676140" y="-657860"/>
            <a:ext cx="2841625" cy="121920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316" h="10799">
                <a:moveTo>
                  <a:pt x="113" y="0"/>
                </a:moveTo>
                <a:lnTo>
                  <a:pt x="4764" y="0"/>
                </a:lnTo>
                <a:lnTo>
                  <a:pt x="4792" y="12"/>
                </a:lnTo>
                <a:cubicBezTo>
                  <a:pt x="6866" y="920"/>
                  <a:pt x="8316" y="2990"/>
                  <a:pt x="8316" y="5400"/>
                </a:cubicBezTo>
                <a:cubicBezTo>
                  <a:pt x="8316" y="7809"/>
                  <a:pt x="6866" y="9879"/>
                  <a:pt x="4792" y="10787"/>
                </a:cubicBezTo>
                <a:lnTo>
                  <a:pt x="4764" y="10799"/>
                </a:lnTo>
                <a:lnTo>
                  <a:pt x="113" y="10799"/>
                </a:lnTo>
                <a:lnTo>
                  <a:pt x="85" y="10787"/>
                </a:lnTo>
                <a:cubicBezTo>
                  <a:pt x="63" y="10777"/>
                  <a:pt x="41" y="10768"/>
                  <a:pt x="20" y="10758"/>
                </a:cubicBezTo>
                <a:lnTo>
                  <a:pt x="0" y="10749"/>
                </a:lnTo>
                <a:lnTo>
                  <a:pt x="0" y="50"/>
                </a:lnTo>
                <a:lnTo>
                  <a:pt x="20" y="41"/>
                </a:lnTo>
                <a:cubicBezTo>
                  <a:pt x="41" y="31"/>
                  <a:pt x="63" y="22"/>
                  <a:pt x="85" y="12"/>
                </a:cubicBezTo>
                <a:lnTo>
                  <a:pt x="113" y="0"/>
                </a:lnTo>
                <a:close/>
              </a:path>
            </a:pathLst>
          </a:custGeom>
          <a:solidFill>
            <a:srgbClr val="46DB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 rot="16200000" flipV="1">
            <a:off x="4838065" y="-495935"/>
            <a:ext cx="2517775" cy="121920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544" h="10799">
                <a:moveTo>
                  <a:pt x="0" y="0"/>
                </a:moveTo>
                <a:lnTo>
                  <a:pt x="3994" y="0"/>
                </a:lnTo>
                <a:lnTo>
                  <a:pt x="4020" y="11"/>
                </a:lnTo>
                <a:cubicBezTo>
                  <a:pt x="6094" y="919"/>
                  <a:pt x="7544" y="2989"/>
                  <a:pt x="7544" y="5399"/>
                </a:cubicBezTo>
                <a:cubicBezTo>
                  <a:pt x="7544" y="7808"/>
                  <a:pt x="6094" y="9878"/>
                  <a:pt x="4020" y="10786"/>
                </a:cubicBezTo>
                <a:lnTo>
                  <a:pt x="3989" y="10799"/>
                </a:lnTo>
                <a:lnTo>
                  <a:pt x="0" y="10799"/>
                </a:lnTo>
                <a:lnTo>
                  <a:pt x="0" y="0"/>
                </a:lnTo>
                <a:close/>
              </a:path>
            </a:pathLst>
          </a:custGeom>
          <a:solidFill>
            <a:srgbClr val="26C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0" y="1078230"/>
            <a:ext cx="3617595" cy="470154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382895" y="1078230"/>
            <a:ext cx="53987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6000" dirty="0">
                <a:solidFill>
                  <a:srgbClr val="26C0AC"/>
                </a:solidFill>
                <a:latin typeface="+mj-lt"/>
                <a:ea typeface="思源黑体 CN Bold" charset="-122"/>
              </a:rPr>
              <a:t>PART 03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382895" y="2291715"/>
            <a:ext cx="55175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琥珀" panose="02010800040101010101" pitchFamily="2" charset="-122"/>
                <a:ea typeface="华文琥珀" panose="02010800040101010101" pitchFamily="2" charset="-122"/>
                <a:sym typeface="+mn-ea"/>
              </a:rPr>
              <a:t>校园账号管理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/>
        </p:nvSpPr>
        <p:spPr>
          <a:xfrm>
            <a:off x="11396980" y="393700"/>
            <a:ext cx="346710" cy="346710"/>
          </a:xfrm>
          <a:prstGeom prst="ellipse">
            <a:avLst/>
          </a:prstGeom>
          <a:solidFill>
            <a:srgbClr val="FB5D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47675" y="393700"/>
            <a:ext cx="76200" cy="347345"/>
          </a:xfrm>
          <a:prstGeom prst="roundRect">
            <a:avLst/>
          </a:prstGeom>
          <a:solidFill>
            <a:srgbClr val="FB5D6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思源黑体 CN Bold" charset="-122"/>
              <a:ea typeface="思源黑体 CN Bold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9925" y="275590"/>
            <a:ext cx="48380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26C0A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校园公众号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083560" y="385445"/>
            <a:ext cx="8242300" cy="1470025"/>
            <a:chOff x="-6436" y="137"/>
            <a:chExt cx="12980" cy="2315"/>
          </a:xfrm>
        </p:grpSpPr>
        <p:sp>
          <p:nvSpPr>
            <p:cNvPr id="17" name="Rectangle 111"/>
            <p:cNvSpPr txBox="1"/>
            <p:nvPr/>
          </p:nvSpPr>
          <p:spPr>
            <a:xfrm>
              <a:off x="-6436" y="137"/>
              <a:ext cx="12481" cy="5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负责编写发布我校团委公众号“志愿上大”中实践部工作项目的公众号篇目</a:t>
              </a:r>
              <a:endPara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endParaRPr>
            </a:p>
          </p:txBody>
        </p:sp>
        <p:sp>
          <p:nvSpPr>
            <p:cNvPr id="18" name="Rectangle 111"/>
            <p:cNvSpPr txBox="1"/>
            <p:nvPr/>
          </p:nvSpPr>
          <p:spPr>
            <a:xfrm>
              <a:off x="1134" y="1811"/>
              <a:ext cx="5410" cy="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charset="-122"/>
                  <a:ea typeface="思源黑体 CN Bold" charset="-122"/>
                </a:rPr>
                <a:t> </a:t>
              </a:r>
              <a:endPara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charset="-122"/>
                <a:ea typeface="思源黑体 CN Bold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890510" y="4284980"/>
            <a:ext cx="3814445" cy="882015"/>
            <a:chOff x="1134" y="1811"/>
            <a:chExt cx="6007" cy="1389"/>
          </a:xfrm>
        </p:grpSpPr>
        <p:sp>
          <p:nvSpPr>
            <p:cNvPr id="8" name="Rectangle 111"/>
            <p:cNvSpPr txBox="1"/>
            <p:nvPr/>
          </p:nvSpPr>
          <p:spPr>
            <a:xfrm>
              <a:off x="1134" y="2607"/>
              <a:ext cx="6007" cy="5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r>
                <a:rPr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charset="-122"/>
                  <a:ea typeface="思源黑体 CN Medium" charset="-122"/>
                  <a:sym typeface="+mn-ea"/>
                </a:rPr>
                <a:t>。</a:t>
              </a:r>
              <a:endPara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charset="-122"/>
                <a:ea typeface="思源黑体 CN Medium" charset="-122"/>
                <a:sym typeface="+mn-ea"/>
              </a:endParaRPr>
            </a:p>
          </p:txBody>
        </p:sp>
        <p:sp>
          <p:nvSpPr>
            <p:cNvPr id="11" name="Rectangle 111"/>
            <p:cNvSpPr txBox="1"/>
            <p:nvPr/>
          </p:nvSpPr>
          <p:spPr>
            <a:xfrm>
              <a:off x="1134" y="1811"/>
              <a:ext cx="5410" cy="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endPara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charset="-122"/>
                <a:ea typeface="思源黑体 CN Bold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203450" y="1448435"/>
            <a:ext cx="3814445" cy="882015"/>
            <a:chOff x="1134" y="1811"/>
            <a:chExt cx="6007" cy="1389"/>
          </a:xfrm>
        </p:grpSpPr>
        <p:sp>
          <p:nvSpPr>
            <p:cNvPr id="13" name="Rectangle 111"/>
            <p:cNvSpPr txBox="1"/>
            <p:nvPr/>
          </p:nvSpPr>
          <p:spPr>
            <a:xfrm>
              <a:off x="1134" y="2607"/>
              <a:ext cx="6007" cy="5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r>
                <a:rPr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charset="-122"/>
                  <a:ea typeface="思源黑体 CN Medium" charset="-122"/>
                  <a:sym typeface="+mn-ea"/>
                </a:rPr>
                <a:t>。</a:t>
              </a:r>
              <a:endPara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charset="-122"/>
                <a:ea typeface="思源黑体 CN Medium" charset="-122"/>
                <a:sym typeface="+mn-ea"/>
              </a:endParaRPr>
            </a:p>
          </p:txBody>
        </p:sp>
        <p:sp>
          <p:nvSpPr>
            <p:cNvPr id="14" name="Rectangle 111"/>
            <p:cNvSpPr txBox="1"/>
            <p:nvPr/>
          </p:nvSpPr>
          <p:spPr>
            <a:xfrm>
              <a:off x="1134" y="1811"/>
              <a:ext cx="5410" cy="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r>
                <a:rPr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charset="-122"/>
                  <a:ea typeface="思源黑体 CN Bold" charset="-122"/>
                </a:rPr>
                <a:t>请输入小标题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203450" y="4284980"/>
            <a:ext cx="3814445" cy="882015"/>
            <a:chOff x="1134" y="1811"/>
            <a:chExt cx="6007" cy="1389"/>
          </a:xfrm>
        </p:grpSpPr>
        <p:sp>
          <p:nvSpPr>
            <p:cNvPr id="19" name="Rectangle 111"/>
            <p:cNvSpPr txBox="1"/>
            <p:nvPr/>
          </p:nvSpPr>
          <p:spPr>
            <a:xfrm>
              <a:off x="1134" y="2607"/>
              <a:ext cx="6007" cy="5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r>
                <a:rPr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charset="-122"/>
                  <a:ea typeface="思源黑体 CN Medium" charset="-122"/>
                  <a:sym typeface="+mn-ea"/>
                </a:rPr>
                <a:t>。</a:t>
              </a:r>
              <a:endPara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charset="-122"/>
                <a:ea typeface="思源黑体 CN Medium" charset="-122"/>
                <a:sym typeface="+mn-ea"/>
              </a:endParaRPr>
            </a:p>
          </p:txBody>
        </p:sp>
        <p:sp>
          <p:nvSpPr>
            <p:cNvPr id="20" name="Rectangle 111"/>
            <p:cNvSpPr txBox="1"/>
            <p:nvPr/>
          </p:nvSpPr>
          <p:spPr>
            <a:xfrm>
              <a:off x="1134" y="1811"/>
              <a:ext cx="5410" cy="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59" tIns="22859" rIns="22859" bIns="22859" numCol="1" anchor="t">
              <a:spAutoFit/>
            </a:bodyPr>
            <a:lstStyle>
              <a:lvl1pPr algn="l">
                <a:lnSpc>
                  <a:spcPct val="150000"/>
                </a:lnSpc>
                <a:defRPr sz="1800" b="0">
                  <a:solidFill>
                    <a:srgbClr val="9B999C"/>
                  </a:solidFill>
                  <a:latin typeface="Arial" charset="0"/>
                  <a:ea typeface="Arial" charset="0"/>
                  <a:cs typeface="Arial" charset="0"/>
                  <a:sym typeface="Arial" charset="0"/>
                </a:defRPr>
              </a:lvl1pPr>
            </a:lstStyle>
            <a:p>
              <a:pPr fontAlgn="auto">
                <a:lnSpc>
                  <a:spcPct val="130000"/>
                </a:lnSpc>
              </a:pPr>
              <a:r>
                <a:rPr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charset="-122"/>
                  <a:ea typeface="思源黑体 CN Bold" charset="-122"/>
                </a:rPr>
                <a:t>请输入小标题</a:t>
              </a:r>
            </a:p>
          </p:txBody>
        </p:sp>
      </p:grpSp>
      <p:pic>
        <p:nvPicPr>
          <p:cNvPr id="4" name="图形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745" y="952067"/>
            <a:ext cx="1046878" cy="10800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BB8A1DA-657C-7795-73FB-190558B38F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934" t="4556" r="934" b="2067"/>
          <a:stretch/>
        </p:blipFill>
        <p:spPr>
          <a:xfrm>
            <a:off x="1063448" y="955007"/>
            <a:ext cx="2796549" cy="565156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EFD154B-C51E-7041-66FE-9C40A7C586D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740"/>
          <a:stretch/>
        </p:blipFill>
        <p:spPr>
          <a:xfrm>
            <a:off x="4624946" y="1050606"/>
            <a:ext cx="2785897" cy="568325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249A8B6-7FAF-2FDB-9D04-15D07712CD1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5740"/>
          <a:stretch/>
        </p:blipFill>
        <p:spPr>
          <a:xfrm>
            <a:off x="8114179" y="939265"/>
            <a:ext cx="2895055" cy="590593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/>
        </p:nvSpPr>
        <p:spPr>
          <a:xfrm>
            <a:off x="11396980" y="393700"/>
            <a:ext cx="346710" cy="346710"/>
          </a:xfrm>
          <a:prstGeom prst="ellipse">
            <a:avLst/>
          </a:prstGeom>
          <a:solidFill>
            <a:srgbClr val="FB5D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47675" y="393700"/>
            <a:ext cx="76200" cy="347345"/>
          </a:xfrm>
          <a:prstGeom prst="roundRect">
            <a:avLst/>
          </a:prstGeom>
          <a:solidFill>
            <a:srgbClr val="FB5D6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思源黑体 CN Bold" charset="-122"/>
              <a:ea typeface="思源黑体 CN Bold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9925" y="275590"/>
            <a:ext cx="48380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26C0A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公众号工作</a:t>
            </a:r>
          </a:p>
        </p:txBody>
      </p:sp>
      <p:sp>
        <p:nvSpPr>
          <p:cNvPr id="3" name="矩形 2"/>
          <p:cNvSpPr/>
          <p:nvPr/>
        </p:nvSpPr>
        <p:spPr>
          <a:xfrm rot="2640000">
            <a:off x="1037590" y="2573020"/>
            <a:ext cx="2613660" cy="2613660"/>
          </a:xfrm>
          <a:prstGeom prst="rect">
            <a:avLst/>
          </a:prstGeom>
          <a:noFill/>
          <a:ln w="38100">
            <a:solidFill>
              <a:srgbClr val="46DBC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 rot="2640000">
            <a:off x="4789170" y="2573020"/>
            <a:ext cx="2613660" cy="2613660"/>
          </a:xfrm>
          <a:prstGeom prst="rect">
            <a:avLst/>
          </a:prstGeom>
          <a:noFill/>
          <a:ln w="38100">
            <a:solidFill>
              <a:srgbClr val="46DBC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2640000">
            <a:off x="8540750" y="2573020"/>
            <a:ext cx="2613660" cy="2613660"/>
          </a:xfrm>
          <a:prstGeom prst="rect">
            <a:avLst/>
          </a:prstGeom>
          <a:noFill/>
          <a:ln w="38100">
            <a:solidFill>
              <a:srgbClr val="46DBC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 rot="2640000" flipV="1">
            <a:off x="4069080" y="3682365"/>
            <a:ext cx="394970" cy="394970"/>
          </a:xfrm>
          <a:prstGeom prst="rect">
            <a:avLst/>
          </a:prstGeom>
          <a:solidFill>
            <a:srgbClr val="26C0A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2640000" flipV="1">
            <a:off x="7771130" y="3683000"/>
            <a:ext cx="394970" cy="394970"/>
          </a:xfrm>
          <a:prstGeom prst="rect">
            <a:avLst/>
          </a:prstGeom>
          <a:solidFill>
            <a:srgbClr val="26C0A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111"/>
          <p:cNvSpPr txBox="1"/>
          <p:nvPr/>
        </p:nvSpPr>
        <p:spPr>
          <a:xfrm>
            <a:off x="988060" y="3527425"/>
            <a:ext cx="2712720" cy="73680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59" tIns="22859" rIns="22859" bIns="22859" numCol="1" anchor="t">
            <a:spAutoFit/>
          </a:bodyPr>
          <a:lstStyle>
            <a:lvl1pPr algn="l">
              <a:lnSpc>
                <a:spcPct val="150000"/>
              </a:lnSpc>
              <a:defRPr sz="1800" b="0">
                <a:solidFill>
                  <a:srgbClr val="9B999C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</a:lstStyle>
          <a:p>
            <a:pPr algn="ctr" fontAlgn="auto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负责活动项目的拍摄和活动策划的总结</a:t>
            </a:r>
            <a:endParaRPr lang="zh-CN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4" name="Rectangle 111"/>
          <p:cNvSpPr txBox="1"/>
          <p:nvPr/>
        </p:nvSpPr>
        <p:spPr>
          <a:xfrm>
            <a:off x="1122045" y="2939415"/>
            <a:ext cx="2444750" cy="415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59" tIns="22859" rIns="22859" bIns="22859" numCol="1" anchor="t">
            <a:spAutoFit/>
          </a:bodyPr>
          <a:lstStyle>
            <a:lvl1pPr algn="l">
              <a:lnSpc>
                <a:spcPct val="150000"/>
              </a:lnSpc>
              <a:defRPr sz="1800" b="0">
                <a:solidFill>
                  <a:srgbClr val="9B999C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</a:lstStyle>
          <a:p>
            <a:pPr algn="ctr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内容撰写</a:t>
            </a:r>
            <a:endParaRPr sz="2000" dirty="0">
              <a:solidFill>
                <a:schemeClr val="tx1">
                  <a:lumMod val="85000"/>
                  <a:lumOff val="15000"/>
                </a:schemeClr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11" name="Rectangle 111"/>
          <p:cNvSpPr txBox="1"/>
          <p:nvPr/>
        </p:nvSpPr>
        <p:spPr>
          <a:xfrm>
            <a:off x="4739640" y="3527425"/>
            <a:ext cx="2712720" cy="109690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59" tIns="22859" rIns="22859" bIns="22859" numCol="1" anchor="t">
            <a:spAutoFit/>
          </a:bodyPr>
          <a:lstStyle>
            <a:lvl1pPr algn="l">
              <a:lnSpc>
                <a:spcPct val="150000"/>
              </a:lnSpc>
              <a:defRPr sz="1800" b="0">
                <a:solidFill>
                  <a:srgbClr val="9B999C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</a:lstStyle>
          <a:p>
            <a:pPr algn="ctr" fontAlgn="auto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使用“秀米”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APP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将图文排版，保证画面整体颜色协调，阅读舒服</a:t>
            </a:r>
          </a:p>
        </p:txBody>
      </p:sp>
      <p:sp>
        <p:nvSpPr>
          <p:cNvPr id="15" name="Rectangle 111"/>
          <p:cNvSpPr txBox="1"/>
          <p:nvPr/>
        </p:nvSpPr>
        <p:spPr>
          <a:xfrm>
            <a:off x="4873625" y="2939415"/>
            <a:ext cx="2444750" cy="415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59" tIns="22859" rIns="22859" bIns="22859" numCol="1" anchor="t">
            <a:spAutoFit/>
          </a:bodyPr>
          <a:lstStyle>
            <a:lvl1pPr algn="l">
              <a:lnSpc>
                <a:spcPct val="150000"/>
              </a:lnSpc>
              <a:defRPr sz="1800" b="0">
                <a:solidFill>
                  <a:srgbClr val="9B999C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</a:lstStyle>
          <a:p>
            <a:pPr algn="ctr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排版</a:t>
            </a:r>
            <a:endParaRPr sz="2000" dirty="0">
              <a:solidFill>
                <a:schemeClr val="tx1">
                  <a:lumMod val="85000"/>
                  <a:lumOff val="15000"/>
                </a:schemeClr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16" name="Rectangle 111"/>
          <p:cNvSpPr txBox="1"/>
          <p:nvPr/>
        </p:nvSpPr>
        <p:spPr>
          <a:xfrm>
            <a:off x="8491220" y="3527425"/>
            <a:ext cx="2712720" cy="73680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59" tIns="22859" rIns="22859" bIns="22859" numCol="1" anchor="t">
            <a:spAutoFit/>
          </a:bodyPr>
          <a:lstStyle>
            <a:lvl1pPr algn="l">
              <a:lnSpc>
                <a:spcPct val="150000"/>
              </a:lnSpc>
              <a:defRPr sz="1800" b="0">
                <a:solidFill>
                  <a:srgbClr val="9B999C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</a:lstStyle>
          <a:p>
            <a:pPr algn="ctr" fontAlgn="auto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最终工作，确保没有错字等意外情况</a:t>
            </a:r>
            <a:endParaRPr lang="zh-CN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7" name="Rectangle 111"/>
          <p:cNvSpPr txBox="1"/>
          <p:nvPr/>
        </p:nvSpPr>
        <p:spPr>
          <a:xfrm>
            <a:off x="8625205" y="2939415"/>
            <a:ext cx="2444750" cy="415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59" tIns="22859" rIns="22859" bIns="22859" numCol="1" anchor="t">
            <a:spAutoFit/>
          </a:bodyPr>
          <a:lstStyle>
            <a:lvl1pPr algn="l">
              <a:lnSpc>
                <a:spcPct val="150000"/>
              </a:lnSpc>
              <a:defRPr sz="1800" b="0">
                <a:solidFill>
                  <a:srgbClr val="9B999C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</a:lstStyle>
          <a:p>
            <a:pPr algn="ctr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校队</a:t>
            </a:r>
            <a:endParaRPr sz="2000" dirty="0">
              <a:solidFill>
                <a:schemeClr val="tx1">
                  <a:lumMod val="85000"/>
                  <a:lumOff val="15000"/>
                </a:schemeClr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pic>
        <p:nvPicPr>
          <p:cNvPr id="22" name="图形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529" y="1624935"/>
            <a:ext cx="1071781" cy="1080000"/>
          </a:xfrm>
          <a:prstGeom prst="rect">
            <a:avLst/>
          </a:prstGeom>
        </p:spPr>
      </p:pic>
      <p:pic>
        <p:nvPicPr>
          <p:cNvPr id="18" name="图形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11690" y="1624935"/>
            <a:ext cx="1071781" cy="1080000"/>
          </a:xfrm>
          <a:prstGeom prst="rect">
            <a:avLst/>
          </a:prstGeom>
        </p:spPr>
      </p:pic>
      <p:pic>
        <p:nvPicPr>
          <p:cNvPr id="34" name="图形 3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533" y="1624935"/>
            <a:ext cx="1238934" cy="1080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/>
        </p:nvSpPr>
        <p:spPr>
          <a:xfrm>
            <a:off x="447675" y="393700"/>
            <a:ext cx="346710" cy="346710"/>
          </a:xfrm>
          <a:prstGeom prst="ellipse">
            <a:avLst/>
          </a:prstGeom>
          <a:solidFill>
            <a:srgbClr val="FB5D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 rot="5400000" flipH="1">
            <a:off x="4676140" y="-657860"/>
            <a:ext cx="2841625" cy="121920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316" h="10799">
                <a:moveTo>
                  <a:pt x="113" y="0"/>
                </a:moveTo>
                <a:lnTo>
                  <a:pt x="4764" y="0"/>
                </a:lnTo>
                <a:lnTo>
                  <a:pt x="4792" y="12"/>
                </a:lnTo>
                <a:cubicBezTo>
                  <a:pt x="6866" y="920"/>
                  <a:pt x="8316" y="2990"/>
                  <a:pt x="8316" y="5400"/>
                </a:cubicBezTo>
                <a:cubicBezTo>
                  <a:pt x="8316" y="7809"/>
                  <a:pt x="6866" y="9879"/>
                  <a:pt x="4792" y="10787"/>
                </a:cubicBezTo>
                <a:lnTo>
                  <a:pt x="4764" y="10799"/>
                </a:lnTo>
                <a:lnTo>
                  <a:pt x="113" y="10799"/>
                </a:lnTo>
                <a:lnTo>
                  <a:pt x="85" y="10787"/>
                </a:lnTo>
                <a:cubicBezTo>
                  <a:pt x="63" y="10777"/>
                  <a:pt x="41" y="10768"/>
                  <a:pt x="20" y="10758"/>
                </a:cubicBezTo>
                <a:lnTo>
                  <a:pt x="0" y="10749"/>
                </a:lnTo>
                <a:lnTo>
                  <a:pt x="0" y="50"/>
                </a:lnTo>
                <a:lnTo>
                  <a:pt x="20" y="41"/>
                </a:lnTo>
                <a:cubicBezTo>
                  <a:pt x="41" y="31"/>
                  <a:pt x="63" y="22"/>
                  <a:pt x="85" y="12"/>
                </a:cubicBezTo>
                <a:lnTo>
                  <a:pt x="113" y="0"/>
                </a:lnTo>
                <a:close/>
              </a:path>
            </a:pathLst>
          </a:custGeom>
          <a:solidFill>
            <a:srgbClr val="46DB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 rot="16200000" flipV="1">
            <a:off x="4838065" y="-495935"/>
            <a:ext cx="2517775" cy="121920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544" h="10799">
                <a:moveTo>
                  <a:pt x="0" y="0"/>
                </a:moveTo>
                <a:lnTo>
                  <a:pt x="3994" y="0"/>
                </a:lnTo>
                <a:lnTo>
                  <a:pt x="4020" y="11"/>
                </a:lnTo>
                <a:cubicBezTo>
                  <a:pt x="6094" y="919"/>
                  <a:pt x="7544" y="2989"/>
                  <a:pt x="7544" y="5399"/>
                </a:cubicBezTo>
                <a:cubicBezTo>
                  <a:pt x="7544" y="7808"/>
                  <a:pt x="6094" y="9878"/>
                  <a:pt x="4020" y="10786"/>
                </a:cubicBezTo>
                <a:lnTo>
                  <a:pt x="3989" y="10799"/>
                </a:lnTo>
                <a:lnTo>
                  <a:pt x="0" y="10799"/>
                </a:lnTo>
                <a:lnTo>
                  <a:pt x="0" y="0"/>
                </a:lnTo>
                <a:close/>
              </a:path>
            </a:pathLst>
          </a:custGeom>
          <a:solidFill>
            <a:srgbClr val="26C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0" y="1078230"/>
            <a:ext cx="3617595" cy="470154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015514" y="1815446"/>
            <a:ext cx="53987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6600" dirty="0">
                <a:latin typeface="黑体" panose="02010609060101010101" pitchFamily="49" charset="-122"/>
                <a:ea typeface="黑体" panose="02010609060101010101" pitchFamily="49" charset="-122"/>
              </a:rPr>
              <a:t>展示完毕</a:t>
            </a:r>
            <a:endParaRPr lang="en-US" altLang="zh-CN" sz="6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294</Words>
  <Application>Microsoft Office PowerPoint</Application>
  <PresentationFormat>宽屏</PresentationFormat>
  <Paragraphs>54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Yu Gothic UI Semibold</vt:lpstr>
      <vt:lpstr>等线</vt:lpstr>
      <vt:lpstr>等线 Light</vt:lpstr>
      <vt:lpstr>黑体</vt:lpstr>
      <vt:lpstr>华康金刚黑A</vt:lpstr>
      <vt:lpstr>华文彩云</vt:lpstr>
      <vt:lpstr>华文琥珀</vt:lpstr>
      <vt:lpstr>思源黑体 CN Bold</vt:lpstr>
      <vt:lpstr>思源黑体 CN Medium</vt:lpstr>
      <vt:lpstr>Aharoni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8613779179925</dc:creator>
  <cp:lastModifiedBy>1830399175@qq.com</cp:lastModifiedBy>
  <cp:revision>2</cp:revision>
  <dcterms:created xsi:type="dcterms:W3CDTF">2023-09-20T09:22:55Z</dcterms:created>
  <dcterms:modified xsi:type="dcterms:W3CDTF">2025-05-28T09:41:47Z</dcterms:modified>
</cp:coreProperties>
</file>